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Airtable SA Cowork Toolkit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65176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i="1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AI-powered skills, persistent memory, and automated workflows for the Services team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FCB400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73152" cy="54864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023360" cy="1371600"/>
          </a:xfrm>
          <a:prstGeom prst="rect">
            <a:avLst/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73152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Cold Starts</a:t>
            </a:r>
            <a:endParaRPr lang="en-US" sz="1600" dirty="0"/>
          </a:p>
        </p:txBody>
      </p:sp>
      <p:sp>
        <p:nvSpPr>
          <p:cNvPr id="6" name="Text 4"/>
          <p:cNvSpPr/>
          <p:nvPr/>
        </p:nvSpPr>
        <p:spPr>
          <a:xfrm>
            <a:off x="731520" y="17830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session begins from zero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709160" y="1188720"/>
            <a:ext cx="4023360" cy="1371600"/>
          </a:xfrm>
          <a:prstGeom prst="rect">
            <a:avLst/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983480" y="13716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Repetitive Work</a:t>
            </a:r>
            <a:endParaRPr lang="en-US" sz="1600" dirty="0"/>
          </a:p>
        </p:txBody>
      </p:sp>
      <p:sp>
        <p:nvSpPr>
          <p:cNvPr id="9" name="Text 7"/>
          <p:cNvSpPr/>
          <p:nvPr/>
        </p:nvSpPr>
        <p:spPr>
          <a:xfrm>
            <a:off x="4983480" y="17830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Recreating the same deliverables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788920"/>
            <a:ext cx="4023360" cy="1371600"/>
          </a:xfrm>
          <a:prstGeom prst="rect">
            <a:avLst/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731520" y="2971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Lost Knowledge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731520" y="3383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accumulated institutional memory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709160" y="2788920"/>
            <a:ext cx="4023360" cy="1371600"/>
          </a:xfrm>
          <a:prstGeom prst="rect">
            <a:avLst/>
          </a:prstGeom>
          <a:solidFill>
            <a:srgbClr val="F5F5F7"/>
          </a:solidFill>
          <a:ln w="12700">
            <a:solidFill>
              <a:srgbClr val="F5F5F7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983480" y="2971800"/>
            <a:ext cx="3474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Manual Status Tracking</a:t>
            </a:r>
            <a:endParaRPr lang="en-US" sz="1600" dirty="0"/>
          </a:p>
        </p:txBody>
      </p:sp>
      <p:sp>
        <p:nvSpPr>
          <p:cNvPr id="15" name="Text 13"/>
          <p:cNvSpPr/>
          <p:nvPr/>
        </p:nvSpPr>
        <p:spPr>
          <a:xfrm>
            <a:off x="4983480" y="3383280"/>
            <a:ext cx="3474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 visibility across projects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73152" cy="54864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This Toolkit Is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3200400"/>
          </a:xfrm>
          <a:prstGeom prst="rect">
            <a:avLst/>
          </a:prstGeom>
          <a:solidFill>
            <a:srgbClr val="F5F5F7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417320" y="1463040"/>
            <a:ext cx="640080" cy="640080"/>
          </a:xfrm>
          <a:prstGeom prst="ellipse">
            <a:avLst/>
          </a:prstGeom>
          <a:solidFill>
            <a:srgbClr val="2D7FF9"/>
          </a:solidFill>
          <a:ln/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5336" y="1591056"/>
            <a:ext cx="384048" cy="384048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640080" y="2377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</a:t>
            </a:r>
            <a:endParaRPr lang="en-US" sz="2000" dirty="0"/>
          </a:p>
        </p:txBody>
      </p:sp>
      <p:sp>
        <p:nvSpPr>
          <p:cNvPr id="8" name="Text 5"/>
          <p:cNvSpPr/>
          <p:nvPr/>
        </p:nvSpPr>
        <p:spPr>
          <a:xfrm>
            <a:off x="640080" y="28803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26 instruction sets</a:t>
            </a:r>
            <a:endParaRPr lang="en-US" sz="1300" dirty="0"/>
          </a:p>
        </p:txBody>
      </p:sp>
      <p:sp>
        <p:nvSpPr>
          <p:cNvPr id="9" name="Shape 6"/>
          <p:cNvSpPr/>
          <p:nvPr/>
        </p:nvSpPr>
        <p:spPr>
          <a:xfrm>
            <a:off x="3200400" y="1188720"/>
            <a:ext cx="2560320" cy="3200400"/>
          </a:xfrm>
          <a:prstGeom prst="rect">
            <a:avLst/>
          </a:prstGeom>
          <a:solidFill>
            <a:srgbClr val="F5F5F7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0" name="Shape 7"/>
          <p:cNvSpPr/>
          <p:nvPr/>
        </p:nvSpPr>
        <p:spPr>
          <a:xfrm>
            <a:off x="4160520" y="1463040"/>
            <a:ext cx="640080" cy="640080"/>
          </a:xfrm>
          <a:prstGeom prst="ellipse">
            <a:avLst/>
          </a:prstGeom>
          <a:solidFill>
            <a:srgbClr val="2D7FF9"/>
          </a:solidFill>
          <a:ln/>
        </p:spPr>
      </p:sp>
      <p:pic>
        <p:nvPicPr>
          <p:cNvPr id="1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8536" y="1591056"/>
            <a:ext cx="384048" cy="384048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383280" y="2377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Vault</a:t>
            </a:r>
            <a:endParaRPr lang="en-US" sz="2000" dirty="0"/>
          </a:p>
        </p:txBody>
      </p:sp>
      <p:sp>
        <p:nvSpPr>
          <p:cNvPr id="13" name="Text 9"/>
          <p:cNvSpPr/>
          <p:nvPr/>
        </p:nvSpPr>
        <p:spPr>
          <a:xfrm>
            <a:off x="3383280" y="28803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Obsidian knowledge base</a:t>
            </a:r>
            <a:endParaRPr lang="en-US" sz="1300" dirty="0"/>
          </a:p>
        </p:txBody>
      </p:sp>
      <p:sp>
        <p:nvSpPr>
          <p:cNvPr id="14" name="Shape 10"/>
          <p:cNvSpPr/>
          <p:nvPr/>
        </p:nvSpPr>
        <p:spPr>
          <a:xfrm>
            <a:off x="5943600" y="1188720"/>
            <a:ext cx="2560320" cy="3200400"/>
          </a:xfrm>
          <a:prstGeom prst="rect">
            <a:avLst/>
          </a:prstGeom>
          <a:solidFill>
            <a:srgbClr val="F5F5F7"/>
          </a:solidFill>
          <a:ln w="12700">
            <a:solidFill>
              <a:srgbClr val="E0E0E0"/>
            </a:solidFill>
            <a:prstDash val="solid"/>
          </a:ln>
        </p:spPr>
      </p:sp>
      <p:sp>
        <p:nvSpPr>
          <p:cNvPr id="15" name="Shape 11"/>
          <p:cNvSpPr/>
          <p:nvPr/>
        </p:nvSpPr>
        <p:spPr>
          <a:xfrm>
            <a:off x="6903720" y="1463040"/>
            <a:ext cx="640080" cy="640080"/>
          </a:xfrm>
          <a:prstGeom prst="ellipse">
            <a:avLst/>
          </a:prstGeom>
          <a:solidFill>
            <a:srgbClr val="2D7FF9"/>
          </a:solidFill>
          <a:ln/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31736" y="1591056"/>
            <a:ext cx="384048" cy="384048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126480" y="2377440"/>
            <a:ext cx="21945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CLAUDE.md</a:t>
            </a:r>
            <a:endParaRPr lang="en-US" sz="2000" dirty="0"/>
          </a:p>
        </p:txBody>
      </p:sp>
      <p:sp>
        <p:nvSpPr>
          <p:cNvPr id="18" name="Text 13"/>
          <p:cNvSpPr/>
          <p:nvPr/>
        </p:nvSpPr>
        <p:spPr>
          <a:xfrm>
            <a:off x="6126480" y="2880360"/>
            <a:ext cx="219456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Routing configuration</a:t>
            </a:r>
            <a:endParaRPr lang="en-US" sz="1300" dirty="0"/>
          </a:p>
        </p:txBody>
      </p:sp>
      <p:sp>
        <p:nvSpPr>
          <p:cNvPr id="19" name="Shape 14"/>
          <p:cNvSpPr/>
          <p:nvPr/>
        </p:nvSpPr>
        <p:spPr>
          <a:xfrm>
            <a:off x="3017520" y="2834640"/>
            <a:ext cx="182880" cy="0"/>
          </a:xfrm>
          <a:prstGeom prst="line">
            <a:avLst/>
          </a:prstGeom>
          <a:noFill/>
          <a:ln w="25400">
            <a:solidFill>
              <a:srgbClr val="18BFFF"/>
            </a:solidFill>
            <a:prstDash val="solid"/>
          </a:ln>
        </p:spPr>
      </p:sp>
      <p:sp>
        <p:nvSpPr>
          <p:cNvPr id="20" name="Shape 15"/>
          <p:cNvSpPr/>
          <p:nvPr/>
        </p:nvSpPr>
        <p:spPr>
          <a:xfrm>
            <a:off x="5760720" y="2834640"/>
            <a:ext cx="182880" cy="0"/>
          </a:xfrm>
          <a:prstGeom prst="line">
            <a:avLst/>
          </a:prstGeom>
          <a:noFill/>
          <a:ln w="25400">
            <a:solidFill>
              <a:srgbClr val="18BFFF"/>
            </a:solidFill>
            <a:prstDash val="solid"/>
          </a:ln>
        </p:spPr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73152" cy="54864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Overview — Deliverables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1280160"/>
            <a:ext cx="8229600" cy="5943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898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workflow-doc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3931920" y="1353312"/>
            <a:ext cx="365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Text 5"/>
          <p:cNvSpPr/>
          <p:nvPr/>
        </p:nvSpPr>
        <p:spPr>
          <a:xfrm>
            <a:off x="4389120" y="13898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stories &amp; ERD diagrams</a:t>
            </a:r>
            <a:endParaRPr lang="en-US" sz="1400" dirty="0"/>
          </a:p>
        </p:txBody>
      </p:sp>
      <p:sp>
        <p:nvSpPr>
          <p:cNvPr id="8" name="Shape 6"/>
          <p:cNvSpPr/>
          <p:nvPr/>
        </p:nvSpPr>
        <p:spPr>
          <a:xfrm>
            <a:off x="457200" y="1965960"/>
            <a:ext cx="822960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0756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technical-design-doc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3931920" y="2039112"/>
            <a:ext cx="365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1" name="Text 9"/>
          <p:cNvSpPr/>
          <p:nvPr/>
        </p:nvSpPr>
        <p:spPr>
          <a:xfrm>
            <a:off x="4389120" y="20756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system docs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57200" y="2651760"/>
            <a:ext cx="8229600" cy="5943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13" name="Text 11"/>
          <p:cNvSpPr/>
          <p:nvPr/>
        </p:nvSpPr>
        <p:spPr>
          <a:xfrm>
            <a:off x="640080" y="27614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training-guide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3931920" y="2724912"/>
            <a:ext cx="365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4389120" y="27614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onboarding materials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457200" y="3337560"/>
            <a:ext cx="8229600" cy="59436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34472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health-check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3931920" y="3410712"/>
            <a:ext cx="365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9" name="Text 17"/>
          <p:cNvSpPr/>
          <p:nvPr/>
        </p:nvSpPr>
        <p:spPr>
          <a:xfrm>
            <a:off x="4389120" y="34472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Risk &amp; production readiness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457200" y="4023360"/>
            <a:ext cx="8229600" cy="59436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4133088"/>
            <a:ext cx="3200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deliverable-qa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931920" y="4096512"/>
            <a:ext cx="365760" cy="43891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23" name="Text 21"/>
          <p:cNvSpPr/>
          <p:nvPr/>
        </p:nvSpPr>
        <p:spPr>
          <a:xfrm>
            <a:off x="4389120" y="4133088"/>
            <a:ext cx="3657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Quality assurance &amp; review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73152" cy="54864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Overview — Advisory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Interactive skills that run during active work — not as document generators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73152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5448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airtable-design-advisor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87452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Schema review, linking strategy, architecture tradeoffs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331720"/>
            <a:ext cx="822960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42316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automation-architect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74320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Design automations, conditional logic, debug structural issues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200400"/>
            <a:ext cx="8229600" cy="73152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29184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ai-prompt-builder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61188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prompts for AI steps in automations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4069080"/>
            <a:ext cx="8229600" cy="73152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4160520"/>
            <a:ext cx="32004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customer-scenario-generator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480560"/>
            <a:ext cx="7315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realistic customer stories for demos &amp; workshops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73152" cy="54864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Overview — Productivity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960120"/>
            <a:ext cx="82296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Automated review system: daily → weekly → monthly → yearly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457200" y="1463040"/>
            <a:ext cx="8229600" cy="64008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55448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engagement-orchestrator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640080" y="182880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Plan &amp; sequence session work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457200" y="2240280"/>
            <a:ext cx="82296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9" name="Text 7"/>
          <p:cNvSpPr/>
          <p:nvPr/>
        </p:nvSpPr>
        <p:spPr>
          <a:xfrm>
            <a:off x="640080" y="233172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40080" y="260604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Daily, weekly, monthly, yearly summaries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017520"/>
            <a:ext cx="8229600" cy="64008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310896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session-wrapup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640080" y="338328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vault at end of each session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457200" y="3794760"/>
            <a:ext cx="8229600" cy="64008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88620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learning-loop</a:t>
            </a:r>
            <a:endParaRPr lang="en-US" sz="1400" dirty="0"/>
          </a:p>
        </p:txBody>
      </p:sp>
      <p:sp>
        <p:nvSpPr>
          <p:cNvPr id="16" name="Text 14"/>
          <p:cNvSpPr/>
          <p:nvPr/>
        </p:nvSpPr>
        <p:spPr>
          <a:xfrm>
            <a:off x="640080" y="416052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Brief mode (start) &amp; reflect mode (end)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457200" y="4572000"/>
            <a:ext cx="8229600" cy="64008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4663440"/>
            <a:ext cx="29260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40080" y="4937760"/>
            <a:ext cx="73152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Create recurring or one-time tasks</a:t>
            </a:r>
            <a:endParaRPr lang="en-US" sz="12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73152" cy="54864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Vault — Persistent Memory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731520" y="1280160"/>
            <a:ext cx="1645920" cy="457200"/>
          </a:xfrm>
          <a:prstGeom prst="rect">
            <a:avLst/>
          </a:prstGeom>
          <a:solidFill>
            <a:srgbClr val="F5F5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822960" y="135331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00 - Inbox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2468880" y="1280160"/>
            <a:ext cx="1645920" cy="457200"/>
          </a:xfrm>
          <a:prstGeom prst="rect">
            <a:avLst/>
          </a:prstGeom>
          <a:solidFill>
            <a:srgbClr val="F5F5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560320" y="135331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01 - Projects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06240" y="1280160"/>
            <a:ext cx="1645920" cy="457200"/>
          </a:xfrm>
          <a:prstGeom prst="rect">
            <a:avLst/>
          </a:prstGeom>
          <a:solidFill>
            <a:srgbClr val="F5F5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297680" y="135331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02 - Clients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31520" y="1920240"/>
            <a:ext cx="1645920" cy="457200"/>
          </a:xfrm>
          <a:prstGeom prst="rect">
            <a:avLst/>
          </a:prstGeom>
          <a:solidFill>
            <a:srgbClr val="F5F5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822960" y="19933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03 - Daily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2468880" y="1920240"/>
            <a:ext cx="1645920" cy="457200"/>
          </a:xfrm>
          <a:prstGeom prst="rect">
            <a:avLst/>
          </a:prstGeom>
          <a:solidFill>
            <a:srgbClr val="F5F5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2560320" y="19933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04 - Decisions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206240" y="1920240"/>
            <a:ext cx="1645920" cy="457200"/>
          </a:xfrm>
          <a:prstGeom prst="rect">
            <a:avLst/>
          </a:prstGeom>
          <a:solidFill>
            <a:srgbClr val="F5F5F7"/>
          </a:solidFill>
          <a:ln w="12700">
            <a:solidFill>
              <a:srgbClr val="CCCCCC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97680" y="1993392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05 - Cowork</a:t>
            </a:r>
            <a:endParaRPr lang="en-US" sz="1100" dirty="0"/>
          </a:p>
        </p:txBody>
      </p:sp>
      <p:sp>
        <p:nvSpPr>
          <p:cNvPr id="16" name="Text 14"/>
          <p:cNvSpPr/>
          <p:nvPr/>
        </p:nvSpPr>
        <p:spPr>
          <a:xfrm>
            <a:off x="457200" y="292608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Bootstrap → Work → Wrapup → Review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57200" y="3383280"/>
            <a:ext cx="82296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Sessions compound instead of resetting. Each project note keeps a running log of decisions, progress, and next steps.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73152" cy="54864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a Session Works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1508760" cy="73152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5" name="Text 3"/>
          <p:cNvSpPr/>
          <p:nvPr/>
        </p:nvSpPr>
        <p:spPr>
          <a:xfrm>
            <a:off x="731520" y="146304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_context.md</a:t>
            </a:r>
            <a:endParaRPr lang="en-US" sz="1200" dirty="0"/>
          </a:p>
        </p:txBody>
      </p:sp>
      <p:sp>
        <p:nvSpPr>
          <p:cNvPr id="6" name="Text 4"/>
          <p:cNvSpPr/>
          <p:nvPr/>
        </p:nvSpPr>
        <p:spPr>
          <a:xfrm>
            <a:off x="2240280" y="1444752"/>
            <a:ext cx="320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2606040" y="1371600"/>
            <a:ext cx="1508760" cy="73152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8" name="Text 6"/>
          <p:cNvSpPr/>
          <p:nvPr/>
        </p:nvSpPr>
        <p:spPr>
          <a:xfrm>
            <a:off x="2697480" y="146304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 transcript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206240" y="1444752"/>
            <a:ext cx="320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0" name="Shape 8"/>
          <p:cNvSpPr/>
          <p:nvPr/>
        </p:nvSpPr>
        <p:spPr>
          <a:xfrm>
            <a:off x="4572000" y="1371600"/>
            <a:ext cx="1508760" cy="73152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11" name="Text 9"/>
          <p:cNvSpPr/>
          <p:nvPr/>
        </p:nvSpPr>
        <p:spPr>
          <a:xfrm>
            <a:off x="4663440" y="146304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Invoke skill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6172200" y="1444752"/>
            <a:ext cx="320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3" name="Shape 11"/>
          <p:cNvSpPr/>
          <p:nvPr/>
        </p:nvSpPr>
        <p:spPr>
          <a:xfrm>
            <a:off x="6537960" y="1371600"/>
            <a:ext cx="1508760" cy="73152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14" name="Text 12"/>
          <p:cNvSpPr/>
          <p:nvPr/>
        </p:nvSpPr>
        <p:spPr>
          <a:xfrm>
            <a:off x="6629400" y="146304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QA check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8138160" y="1444752"/>
            <a:ext cx="320040" cy="58521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</a:t>
            </a:r>
            <a:endParaRPr lang="en-US" sz="2000" dirty="0"/>
          </a:p>
        </p:txBody>
      </p:sp>
      <p:sp>
        <p:nvSpPr>
          <p:cNvPr id="16" name="Shape 14"/>
          <p:cNvSpPr/>
          <p:nvPr/>
        </p:nvSpPr>
        <p:spPr>
          <a:xfrm>
            <a:off x="8503920" y="1371600"/>
            <a:ext cx="1508760" cy="73152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17" name="Text 15"/>
          <p:cNvSpPr/>
          <p:nvPr/>
        </p:nvSpPr>
        <p:spPr>
          <a:xfrm>
            <a:off x="8595360" y="1463040"/>
            <a:ext cx="1325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Update vault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40080" y="22860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Cowork loads previous context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2606040" y="22860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provides notes or transcript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0" y="22860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Right skill triggers automatically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537960" y="22860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Human reviews &amp; approves output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8503920" y="2286000"/>
            <a:ext cx="15087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session-wrapup updates all notes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73152" cy="54864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CLAUDE.md Routing Table</a:t>
            </a:r>
            <a:endParaRPr lang="en-US" sz="4400" dirty="0"/>
          </a:p>
        </p:txBody>
      </p:sp>
      <p:sp>
        <p:nvSpPr>
          <p:cNvPr id="4" name="Text 2"/>
          <p:cNvSpPr/>
          <p:nvPr/>
        </p:nvSpPr>
        <p:spPr>
          <a:xfrm>
            <a:off x="457200" y="100584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Skills need a routing table because context matters. The same word triggers different skills depending on what the user actually wants.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645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"I want to design a workflow"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457200" y="1965960"/>
            <a:ext cx="3977640" cy="457200"/>
          </a:xfrm>
          <a:prstGeom prst="rect">
            <a:avLst/>
          </a:prstGeom>
          <a:solidFill>
            <a:srgbClr val="FFE6E6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93392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Generates a formal document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709160" y="1965960"/>
            <a:ext cx="3977640" cy="457200"/>
          </a:xfrm>
          <a:prstGeom prst="rect">
            <a:avLst/>
          </a:prstGeom>
          <a:solidFill>
            <a:srgbClr val="E6F7E6"/>
          </a:solidFill>
          <a:ln/>
        </p:spPr>
      </p:sp>
      <p:sp>
        <p:nvSpPr>
          <p:cNvPr id="9" name="Text 7"/>
          <p:cNvSpPr/>
          <p:nvPr/>
        </p:nvSpPr>
        <p:spPr>
          <a:xfrm>
            <a:off x="4892040" y="1993392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Opens design discussion</a:t>
            </a:r>
            <a:endParaRPr lang="en-US" sz="1100" dirty="0"/>
          </a:p>
        </p:txBody>
      </p:sp>
      <p:sp>
        <p:nvSpPr>
          <p:cNvPr id="10" name="Text 8"/>
          <p:cNvSpPr/>
          <p:nvPr/>
        </p:nvSpPr>
        <p:spPr>
          <a:xfrm>
            <a:off x="457200" y="265176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"Create the workflow doc"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457200" y="2971800"/>
            <a:ext cx="3977640" cy="457200"/>
          </a:xfrm>
          <a:prstGeom prst="rect">
            <a:avLst/>
          </a:prstGeom>
          <a:solidFill>
            <a:srgbClr val="FFE6E6"/>
          </a:solidFill>
          <a:ln/>
        </p:spPr>
      </p:sp>
      <p:sp>
        <p:nvSpPr>
          <p:cNvPr id="12" name="Text 10"/>
          <p:cNvSpPr/>
          <p:nvPr/>
        </p:nvSpPr>
        <p:spPr>
          <a:xfrm>
            <a:off x="640080" y="2999232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Starts designing</a:t>
            </a:r>
            <a:endParaRPr lang="en-US" sz="1100" dirty="0"/>
          </a:p>
        </p:txBody>
      </p:sp>
      <p:sp>
        <p:nvSpPr>
          <p:cNvPr id="13" name="Shape 11"/>
          <p:cNvSpPr/>
          <p:nvPr/>
        </p:nvSpPr>
        <p:spPr>
          <a:xfrm>
            <a:off x="4709160" y="2971800"/>
            <a:ext cx="3977640" cy="457200"/>
          </a:xfrm>
          <a:prstGeom prst="rect">
            <a:avLst/>
          </a:prstGeom>
          <a:solidFill>
            <a:srgbClr val="E6F7E6"/>
          </a:solidFill>
          <a:ln/>
        </p:spPr>
      </p:sp>
      <p:sp>
        <p:nvSpPr>
          <p:cNvPr id="14" name="Text 12"/>
          <p:cNvSpPr/>
          <p:nvPr/>
        </p:nvSpPr>
        <p:spPr>
          <a:xfrm>
            <a:off x="4892040" y="2999232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Generates deliverable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457200" y="36576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i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"Design the automations"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3977640"/>
            <a:ext cx="3977640" cy="457200"/>
          </a:xfrm>
          <a:prstGeom prst="rect">
            <a:avLst/>
          </a:prstGeom>
          <a:solidFill>
            <a:srgbClr val="FFE6E6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" y="4005072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B00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❌ Creates empty doc template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709160" y="3977640"/>
            <a:ext cx="3977640" cy="457200"/>
          </a:xfrm>
          <a:prstGeom prst="rect">
            <a:avLst/>
          </a:prstGeom>
          <a:solidFill>
            <a:srgbClr val="E6F7E6"/>
          </a:solidFill>
          <a:ln/>
        </p:spPr>
      </p:sp>
      <p:sp>
        <p:nvSpPr>
          <p:cNvPr id="19" name="Text 17"/>
          <p:cNvSpPr/>
          <p:nvPr/>
        </p:nvSpPr>
        <p:spPr>
          <a:xfrm>
            <a:off x="4892040" y="4005072"/>
            <a:ext cx="36118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0066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Drafts automation specs</a:t>
            </a:r>
            <a:endParaRPr lang="en-US" sz="11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73152" cy="54864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Getting Started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411480" cy="411480"/>
          </a:xfrm>
          <a:prstGeom prst="ellipse">
            <a:avLst/>
          </a:prstGeom>
          <a:solidFill>
            <a:srgbClr val="2D7FF9"/>
          </a:solidFill>
          <a:ln/>
        </p:spPr>
      </p:sp>
      <p:sp>
        <p:nvSpPr>
          <p:cNvPr id="5" name="Text 3"/>
          <p:cNvSpPr/>
          <p:nvPr/>
        </p:nvSpPr>
        <p:spPr>
          <a:xfrm>
            <a:off x="457200" y="118872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005840" y="123444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prerequisites (npm, python, Obsidian)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57200" y="1920240"/>
            <a:ext cx="411480" cy="411480"/>
          </a:xfrm>
          <a:prstGeom prst="ellipse">
            <a:avLst/>
          </a:prstGeom>
          <a:solidFill>
            <a:srgbClr val="2D7FF9"/>
          </a:solidFill>
          <a:ln/>
        </p:spPr>
      </p:sp>
      <p:sp>
        <p:nvSpPr>
          <p:cNvPr id="8" name="Text 6"/>
          <p:cNvSpPr/>
          <p:nvPr/>
        </p:nvSpPr>
        <p:spPr>
          <a:xfrm>
            <a:off x="457200" y="192024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9" name="Text 7"/>
          <p:cNvSpPr/>
          <p:nvPr/>
        </p:nvSpPr>
        <p:spPr>
          <a:xfrm>
            <a:off x="1005840" y="196596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Set up your Obsidian vault in ~/Work Brain/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457200" y="2651760"/>
            <a:ext cx="411480" cy="411480"/>
          </a:xfrm>
          <a:prstGeom prst="ellipse">
            <a:avLst/>
          </a:prstGeom>
          <a:solidFill>
            <a:srgbClr val="2D7FF9"/>
          </a:solidFill>
          <a:ln/>
        </p:spPr>
      </p:sp>
      <p:sp>
        <p:nvSpPr>
          <p:cNvPr id="11" name="Text 9"/>
          <p:cNvSpPr/>
          <p:nvPr/>
        </p:nvSpPr>
        <p:spPr>
          <a:xfrm>
            <a:off x="457200" y="265176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12" name="Text 10"/>
          <p:cNvSpPr/>
          <p:nvPr/>
        </p:nvSpPr>
        <p:spPr>
          <a:xfrm>
            <a:off x="1005840" y="269748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 all 26 skills via Cowork UI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383280"/>
            <a:ext cx="411480" cy="411480"/>
          </a:xfrm>
          <a:prstGeom prst="ellipse">
            <a:avLst/>
          </a:prstGeom>
          <a:solidFill>
            <a:srgbClr val="2D7FF9"/>
          </a:solidFill>
          <a:ln/>
        </p:spPr>
      </p:sp>
      <p:sp>
        <p:nvSpPr>
          <p:cNvPr id="14" name="Text 12"/>
          <p:cNvSpPr/>
          <p:nvPr/>
        </p:nvSpPr>
        <p:spPr>
          <a:xfrm>
            <a:off x="457200" y="33832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1005840" y="342900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Configure CLAUDE.md with your routing rules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457200" y="4114800"/>
            <a:ext cx="411480" cy="411480"/>
          </a:xfrm>
          <a:prstGeom prst="ellipse">
            <a:avLst/>
          </a:prstGeom>
          <a:solidFill>
            <a:srgbClr val="2D7FF9"/>
          </a:solidFill>
          <a:ln/>
        </p:spPr>
      </p:sp>
      <p:sp>
        <p:nvSpPr>
          <p:cNvPr id="17" name="Text 15"/>
          <p:cNvSpPr/>
          <p:nvPr/>
        </p:nvSpPr>
        <p:spPr>
          <a:xfrm>
            <a:off x="457200" y="411480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18" name="Text 16"/>
          <p:cNvSpPr/>
          <p:nvPr/>
        </p:nvSpPr>
        <p:spPr>
          <a:xfrm>
            <a:off x="1005840" y="4160520"/>
            <a:ext cx="76809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Run your first session with a test transcript</a:t>
            </a:r>
            <a:endParaRPr lang="en-US" sz="1300" dirty="0"/>
          </a:p>
        </p:txBody>
      </p:sp>
      <p:sp>
        <p:nvSpPr>
          <p:cNvPr id="19" name="Text 17"/>
          <p:cNvSpPr/>
          <p:nvPr/>
        </p:nvSpPr>
        <p:spPr>
          <a:xfrm>
            <a:off x="457200" y="45720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→ See ONBOARDING.md for detailed walkthrough</a:t>
            </a:r>
            <a:endParaRPr lang="en-US" sz="12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274320"/>
            <a:ext cx="73152" cy="548640"/>
          </a:xfrm>
          <a:prstGeom prst="rect">
            <a:avLst/>
          </a:prstGeom>
          <a:solidFill>
            <a:srgbClr val="2D7FF9"/>
          </a:solidFill>
          <a:ln/>
        </p:spPr>
      </p:sp>
      <p:sp>
        <p:nvSpPr>
          <p:cNvPr id="3" name="Text 1"/>
          <p:cNvSpPr/>
          <p:nvPr/>
        </p:nvSpPr>
        <p:spPr>
          <a:xfrm>
            <a:off x="457200" y="27432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400" b="1" dirty="0">
                <a:solidFill>
                  <a:srgbClr val="1A1A2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Next</a:t>
            </a:r>
            <a:endParaRPr lang="en-US" sz="4400" dirty="0"/>
          </a:p>
        </p:txBody>
      </p:sp>
      <p:sp>
        <p:nvSpPr>
          <p:cNvPr id="4" name="Shape 2"/>
          <p:cNvSpPr/>
          <p:nvPr/>
        </p:nvSpPr>
        <p:spPr>
          <a:xfrm>
            <a:off x="457200" y="1188720"/>
            <a:ext cx="2560320" cy="274320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71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Plugin Marketplace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640080" y="205740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with Webster to surface org-specific automations and workflows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3200400" y="1188720"/>
            <a:ext cx="2560320" cy="274320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8" name="Text 6"/>
          <p:cNvSpPr/>
          <p:nvPr/>
        </p:nvSpPr>
        <p:spPr>
          <a:xfrm>
            <a:off x="3383280" y="1371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Pattern Library</a:t>
            </a:r>
            <a:endParaRPr lang="en-US" sz="1500" dirty="0"/>
          </a:p>
        </p:txBody>
      </p:sp>
      <p:sp>
        <p:nvSpPr>
          <p:cNvPr id="9" name="Text 7"/>
          <p:cNvSpPr/>
          <p:nvPr/>
        </p:nvSpPr>
        <p:spPr>
          <a:xfrm>
            <a:off x="3383280" y="205740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templates for common customer scenarios and data models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5943600" y="1188720"/>
            <a:ext cx="2560320" cy="2743200"/>
          </a:xfrm>
          <a:prstGeom prst="rect">
            <a:avLst/>
          </a:prstGeom>
          <a:solidFill>
            <a:srgbClr val="F5F5F7"/>
          </a:solidFill>
          <a:ln/>
        </p:spPr>
      </p:sp>
      <p:sp>
        <p:nvSpPr>
          <p:cNvPr id="11" name="Text 9"/>
          <p:cNvSpPr/>
          <p:nvPr/>
        </p:nvSpPr>
        <p:spPr>
          <a:xfrm>
            <a:off x="6126480" y="1371600"/>
            <a:ext cx="21945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D7FF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Cross-Team Contribution</a:t>
            </a:r>
            <a:endParaRPr lang="en-US" sz="1500" dirty="0"/>
          </a:p>
        </p:txBody>
      </p:sp>
      <p:sp>
        <p:nvSpPr>
          <p:cNvPr id="12" name="Text 10"/>
          <p:cNvSpPr/>
          <p:nvPr/>
        </p:nvSpPr>
        <p:spPr>
          <a:xfrm>
            <a:off x="6126480" y="2057400"/>
            <a:ext cx="21945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4A4A4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CSM, PM, and Enablement teams adding their own skills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18B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GitHub: airtable-sa-skills (private repo)</a:t>
            </a:r>
            <a:endParaRPr lang="en-US" sz="12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A1A2E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0"/>
            <a:ext cx="82296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5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5400" dirty="0"/>
          </a:p>
        </p:txBody>
      </p:sp>
      <p:sp>
        <p:nvSpPr>
          <p:cNvPr id="3" name="Text 1"/>
          <p:cNvSpPr/>
          <p:nvPr/>
        </p:nvSpPr>
        <p:spPr>
          <a:xfrm>
            <a:off x="457200" y="27432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dirty="0">
                <a:solidFill>
                  <a:srgbClr val="FCB4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airtable-sa-skills</a:t>
            </a:r>
            <a:endParaRPr lang="en-US" sz="2800" dirty="0"/>
          </a:p>
        </p:txBody>
      </p:sp>
      <p:sp>
        <p:nvSpPr>
          <p:cNvPr id="4" name="Shape 2"/>
          <p:cNvSpPr/>
          <p:nvPr/>
        </p:nvSpPr>
        <p:spPr>
          <a:xfrm>
            <a:off x="0" y="4686300"/>
            <a:ext cx="9144000" cy="457200"/>
          </a:xfrm>
          <a:prstGeom prst="rect">
            <a:avLst/>
          </a:prstGeom>
          <a:solidFill>
            <a:srgbClr val="18BFFF"/>
          </a:solidFill>
          <a:ln/>
        </p:spPr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Airtable SA Cowork Toolkit Overview</dc:title>
  <dc:subject>PptxGenJS Presentation</dc:subject>
  <dc:creator>Darryl Lardizabal</dc:creator>
  <cp:lastModifiedBy>Darryl Lardizabal</cp:lastModifiedBy>
  <cp:revision>1</cp:revision>
  <dcterms:created xsi:type="dcterms:W3CDTF">2026-03-24T19:39:20Z</dcterms:created>
  <dcterms:modified xsi:type="dcterms:W3CDTF">2026-03-24T19:39:20Z</dcterms:modified>
</cp:coreProperties>
</file>